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media1.mp3" ContentType="video/mp4"/>
  <Override PartName="/ppt/media/media10.mp3" ContentType="video/mp4"/>
  <Override PartName="/ppt/media/media11.mp3" ContentType="video/mp4"/>
  <Override PartName="/ppt/media/media12.mp3" ContentType="video/mp4"/>
  <Override PartName="/ppt/media/media13.mp3" ContentType="video/mp4"/>
  <Override PartName="/ppt/media/media14.mp3" ContentType="video/mp4"/>
  <Override PartName="/ppt/media/media15.mp3" ContentType="video/mp4"/>
  <Override PartName="/ppt/media/media16.mp3" ContentType="video/mp4"/>
  <Override PartName="/ppt/media/media17.mp3" ContentType="video/mp4"/>
  <Override PartName="/ppt/media/media18.mp3" ContentType="video/mp4"/>
  <Override PartName="/ppt/media/media2.mp3" ContentType="video/mp4"/>
  <Override PartName="/ppt/media/media3.mp3" ContentType="video/mp4"/>
  <Override PartName="/ppt/media/media4.mp3" ContentType="video/mp4"/>
  <Override PartName="/ppt/media/media5.mp3" ContentType="video/mp4"/>
  <Override PartName="/ppt/media/media6.mp3" ContentType="video/mp4"/>
  <Override PartName="/ppt/media/media7.mp3" ContentType="video/mp4"/>
  <Override PartName="/ppt/media/media8.mp3" ContentType="video/mp4"/>
  <Override PartName="/ppt/media/media9.mp3" ContentType="video/mp4"/>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Bienvenidos a esta masterclass sobre Prospectiva Estratégica. Hoy discutiremos cinco secciones clave que nos ayudarán a entender mejor esta metodología: primero, la definición y el concepto de Prospectiva Estratégica; segundo, la metodología que se utiliza para implementarla; tercero, cómo se aplica en la sección de EMACON; cuarto, veremos un ejemplo práctico de un ejercicio prospectivo que hemos realizado; y por último, abriremos un espacio para preguntas y un coloquio que enriquecerá nuestra comprensión. Sin más preámbulo, comencemos.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organización de DIVDEF es crucial para el éxito de la prospectiva estratégica. Contamos con una estructura organizativa clara que permite un flujo de trabajo eficaz y un enfoque alineado en nuestros objetivos estratégicos. Esto asegura que las metodologías de prospectiva se integren en todas las fases del desarrollo estratégico, facilitando una planificación más efectiva y adaptable a los cambios del entorno. La colaboración entre secciones también garantiza que se comparta el conocimiento y las experiencias acumuladas, mejorando nuestras capacidades de análisis.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Sección de Análisis y Prospectiva, SEYAP, tiene como misión la anticipación estratégica, lo que implica un análisis constante y dinámico del entorno. A través de metodologías avanzadas, buscamos desarrollar capacidades estratégicas que nos permitan adaptarnos a nuevos desafíos y aprovechar oportunidades emergentes. Este enfoque nos ayuda a formar una visión más clara del futuro y a preparar a nuestra organización para afrontar los cambios con confianza.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prospectiva estratégica puede definirse como una aproximación sistemática y colaborativa destinada a identificar, analizar y revisar posibles futuros alternativos. Este proceso no solo previene sorpresas estratégicas, sino que también contribuye significativamente a la toma de decisiones informadas que impactan directamente en el logro de los objetivos organizacionales. Al establecer un marco temporal para nuestras proyecciones, podemos trabajar para evitar riesgos y descubrir oportunidades valiosas en el horizonte.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prospectiva estratégica sirve múltiples propósitos dentro de una organización. En primer lugar, informa el proceso de planeamiento alineando la visión a largo plazo con la realidad presente. En segundo lugar, apoya la consciencia situacional al proporcionar una base analítica que capacita a los líderes para tomar decisiones más informadas. Finalmente, impulsa el ciclo de desarrollo estratégico, asegurando que toda la organización esté preparada para afrontar los desafíos futuros y optimizar sus recursos de forma efectiva.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metodología de la prospectiva estratégica se centra en el concepto de horizonte temporal y la sabiduría colectiva del grupo. La identificación de tendencias y fuerzas motrices, como incertidumbres clave y señales de atención, es fundamental para establecer una perspectiva clara sobre cómo pueden evolucionar los escenarios futuros. La capacidad de evaluar estos elementos nos permite construir un análisis más robusto y fundamentado que sea útil para la toma de decisiones estratégicas.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Las fuerzas motrices juegan un papel crítico en el análisis prospectivo. Las incertidumbres clave son aquellos factores que, de concretarse, pueden alterar drásticamente el panorama actual. Las tendencias estables, o megatrends, son movimientos persistentes que modelan el entorno durante períodos prolongados. Por último, las señales de atención son indicativos tempranos de posibles cambios. Identificar y monitorear estas fuerzas motrices resulta esencial para construir una imagen clara del futuro y anticipar los desafíos que podrían presentarse.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análisis estratégico incluye varias herramientas clave, tales como el mapa de dominios que visualiza los campos de acción, el mapa de actores que identifica los diferentes stakeholders involucrados y el análisis de estratos causales que descompone los factores subyacentes que influyen en la situación actual. Estas herramientas permiten profundizar en el entendimiento del contexto y facilitando la identificación de oportunidades y riesgos en el futuro.</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Existen diversas técnicas para identificar fuerzas motrices en el contexto de la prospectiva. El 'backcasting' es un método que empieza con el futuro deseado y trabaja hacia atrás para identificar los pasos necesarios para alcanzarlo. La visión retrospectiva permite a los analistas ver cómo se han desarrollado ciertas tendencias en el pasado. Por último, el triángulo de futuros es una herramienta visual que ayuda a proyectar diferentes escenarios posibles al considerar diversos factores y su interrelación.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gestión de fuerzas motrices implica reconocer y monitorear continuamente los factores que pueden alterar nuestro entorno estratégico. Esto requiere el desarrollo de estrategias de adaptación que permitan a la organización ser flexible y responder a los cambios de manera efectiva. La evaluación continua de estas fuerzas asegura que trabajemos con información actualizada, lo que es esencial para la planificación y el desarrollo a largo plazo.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construcción de escenarios es una técnica fundamental en la prospectiva estratégica que nos permite definir diferentes posibilidades de futuro. Cada escenario se desarrolla como un relato que ilustra cómo diferentes factores podrían interaccionar y dar lugar a variadas realidades futuras. Esta metodología no solo ayuda a visualizar y evaluar alternativas, sino que también proporciona un marco para preparar respuestas a posibles desafíos y oportunidades que puedan surgir.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inductivo es una estrategia clave para construir escenarios. Comienza con un 'futuro oficial', es decir, la proyección más probable del futuro, y a partir de ahí se identifican las desviaciones o variantes que pueden surgir. El ejercicio de considerar estas desviaciones permite a los analistas explorar diferentes caminos que podrían llevar a resultados alternativos. Este método fomenta una discusión enriquecedora sobre cómo los eventos presentes pueden influir en el futuro.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deductivo involucra el uso de variables críticas para desarrollar una matriz de escenarios. Esto implica seleccionar dos variables o incertidumbres que son significativas para el tema de estudio y analizar sus interacciones. A partir de esta matriz se pueden visualizar diferentes escenarios que emergen de las combinaciones de estas variables. Este enfoque permite a los analistas identificar cómo el cambio en una variable puede influir en la otra y, por ende, afectar el futuro estratégico.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constructivo es otra técnica para la construcción de escenarios que se basa en la combinación de fuerzas motrices. Implica identificar eventos que podrían tener un impacto significativo en el futuro y visualizarlos en relación con las fuerzas motrices existentes. Este método resalta las interacciones complejas entre diferentes factores y brinda una forma más dinámica y flexible de anticipar futuros alternativos. Resulta especialmente útil en contextos llenos de incertidumbre.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El Método Silver Lining es uno que utilizamos frecuentemente en nuestros proyectos de prospectiva. Se caracteriza por un enfoque estructurado que facilita seguir una serie de pasos definidos. Esta estructura no solo minimiza los riesgos de error en la planificación, sino que también establece una base sólida para que todos los posteriores pasos en el ejercicio sean coherentes y útiles. Cada etapa acumulativa de este método permite un proceso de mejora continua y aprendizaje organizacional.</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La primera fase del Método Silver Lining implica la determinación clara de los objetivos y el horizonte temporal del ejercicio prospectivo. Aquí se trata de especificar cuál es el tema de estudio y el tiempo que abarca. Esta fase es crítica, ya que actúa como la base sobre la cual se construye todo el resto del ejercicio. Identificar el problema correcto y ajustarse al horizonte temporal adecuado son pasos necesarios para un análisis efectivo.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En la segunda fase, nos enfocamos en definir el marco de situación actual. Esto implica describir de manera precisa el estado del tema de estudio, resaltando las características y hechos constatados. Es fundamental evitar listas excesivas y mantener la exactitud en la descripción. Emplear modelos como DIME o PMESII ayuda a estructurar nuestra comprensión y asegura que todos los aspectos relevantes se consideren para el análisis prospectivo.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GUION PARA LA DIAPOSITIVA ---</a:t>
            </a:r>
          </a:p>
          <a:p/>
          <a:p>
            <a:r>
              <a:t>En la fase tres, el enfoque se dirige hacia la identificación y definición de los 'eventos', que son situaciones o hechos potenciales que podrían influir significativamente en el marco de situación vigente. Aquí se consideran tanto amenazas como oportunidades que podrían surgir en relación al tema de estudio. La claridad en la definición de estos eventos es crucial, ya que determinarán la dirección de nuestro análisis y los escenarios futuros que construiremos.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microsoft.com/office/2007/relationships/media" Target="../media/media1.mp3"/><Relationship Id="rId4" Type="http://schemas.openxmlformats.org/officeDocument/2006/relationships/video" Target="../media/media1.mp3"/><Relationship Id="rId5" Type="http://schemas.openxmlformats.org/officeDocument/2006/relationships/image" Target="../media/image2.jpg"/><Relationship Id="rId6"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microsoft.com/office/2007/relationships/media" Target="../media/media2.mp3"/><Relationship Id="rId4" Type="http://schemas.openxmlformats.org/officeDocument/2006/relationships/video" Target="../media/media2.mp3"/><Relationship Id="rId5" Type="http://schemas.openxmlformats.org/officeDocument/2006/relationships/image" Target="../media/image2.jpg"/><Relationship Id="rId6"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microsoft.com/office/2007/relationships/media" Target="../media/media3.mp3"/><Relationship Id="rId4" Type="http://schemas.openxmlformats.org/officeDocument/2006/relationships/video" Target="../media/media3.mp3"/><Relationship Id="rId5" Type="http://schemas.openxmlformats.org/officeDocument/2006/relationships/image" Target="../media/image2.jpg"/><Relationship Id="rId6"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microsoft.com/office/2007/relationships/media" Target="../media/media4.mp3"/><Relationship Id="rId4" Type="http://schemas.openxmlformats.org/officeDocument/2006/relationships/video" Target="../media/media4.mp3"/><Relationship Id="rId5" Type="http://schemas.openxmlformats.org/officeDocument/2006/relationships/image" Target="../media/image2.jpg"/><Relationship Id="rId6"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5.mp3"/><Relationship Id="rId4" Type="http://schemas.openxmlformats.org/officeDocument/2006/relationships/video" Target="../media/media5.mp3"/><Relationship Id="rId5" Type="http://schemas.openxmlformats.org/officeDocument/2006/relationships/image" Target="../media/image2.jpg"/><Relationship Id="rId6"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6.mp3"/><Relationship Id="rId4" Type="http://schemas.openxmlformats.org/officeDocument/2006/relationships/video" Target="../media/media6.mp3"/><Relationship Id="rId5" Type="http://schemas.openxmlformats.org/officeDocument/2006/relationships/image" Target="../media/image2.jpg"/><Relationship Id="rId6"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7.mp3"/><Relationship Id="rId4" Type="http://schemas.openxmlformats.org/officeDocument/2006/relationships/video" Target="../media/media7.mp3"/><Relationship Id="rId5" Type="http://schemas.openxmlformats.org/officeDocument/2006/relationships/image" Target="../media/image2.jpg"/><Relationship Id="rId6"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microsoft.com/office/2007/relationships/media" Target="../media/media8.mp3"/><Relationship Id="rId4" Type="http://schemas.openxmlformats.org/officeDocument/2006/relationships/video" Target="../media/media8.mp3"/><Relationship Id="rId5" Type="http://schemas.openxmlformats.org/officeDocument/2006/relationships/image" Target="../media/image2.jpg"/><Relationship Id="rId6"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microsoft.com/office/2007/relationships/media" Target="../media/media9.mp3"/><Relationship Id="rId4" Type="http://schemas.openxmlformats.org/officeDocument/2006/relationships/video" Target="../media/media9.mp3"/><Relationship Id="rId5" Type="http://schemas.openxmlformats.org/officeDocument/2006/relationships/image" Target="../media/image2.jpg"/><Relationship Id="rId6"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microsoft.com/office/2007/relationships/media" Target="../media/media10.mp3"/><Relationship Id="rId4" Type="http://schemas.openxmlformats.org/officeDocument/2006/relationships/video" Target="../media/media10.mp3"/><Relationship Id="rId5" Type="http://schemas.openxmlformats.org/officeDocument/2006/relationships/image" Target="../media/image2.jpg"/><Relationship Id="rId6"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microsoft.com/office/2007/relationships/media" Target="../media/media11.mp3"/><Relationship Id="rId4" Type="http://schemas.openxmlformats.org/officeDocument/2006/relationships/video" Target="../media/media11.mp3"/><Relationship Id="rId5" Type="http://schemas.openxmlformats.org/officeDocument/2006/relationships/image" Target="../media/image2.jpg"/><Relationship Id="rId6"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12.mp3"/><Relationship Id="rId4" Type="http://schemas.openxmlformats.org/officeDocument/2006/relationships/video" Target="../media/media12.mp3"/><Relationship Id="rId5" Type="http://schemas.openxmlformats.org/officeDocument/2006/relationships/image" Target="../media/image2.jpg"/><Relationship Id="rId6"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13.mp3"/><Relationship Id="rId4" Type="http://schemas.openxmlformats.org/officeDocument/2006/relationships/video" Target="../media/media13.mp3"/><Relationship Id="rId5" Type="http://schemas.openxmlformats.org/officeDocument/2006/relationships/image" Target="../media/image2.jpg"/><Relationship Id="rId6"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microsoft.com/office/2007/relationships/media" Target="../media/media14.mp3"/><Relationship Id="rId4" Type="http://schemas.openxmlformats.org/officeDocument/2006/relationships/video" Target="../media/media14.mp3"/><Relationship Id="rId5" Type="http://schemas.openxmlformats.org/officeDocument/2006/relationships/image" Target="../media/image2.jpg"/><Relationship Id="rId6"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microsoft.com/office/2007/relationships/media" Target="../media/media15.mp3"/><Relationship Id="rId4" Type="http://schemas.openxmlformats.org/officeDocument/2006/relationships/video" Target="../media/media15.mp3"/><Relationship Id="rId5" Type="http://schemas.openxmlformats.org/officeDocument/2006/relationships/image" Target="../media/image2.jpg"/><Relationship Id="rId6"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microsoft.com/office/2007/relationships/media" Target="../media/media16.mp3"/><Relationship Id="rId4" Type="http://schemas.openxmlformats.org/officeDocument/2006/relationships/video" Target="../media/media16.mp3"/><Relationship Id="rId5" Type="http://schemas.openxmlformats.org/officeDocument/2006/relationships/image" Target="../media/image2.jpg"/><Relationship Id="rId6"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microsoft.com/office/2007/relationships/media" Target="../media/media17.mp3"/><Relationship Id="rId4" Type="http://schemas.openxmlformats.org/officeDocument/2006/relationships/video" Target="../media/media17.mp3"/><Relationship Id="rId5" Type="http://schemas.openxmlformats.org/officeDocument/2006/relationships/image" Target="../media/image2.jpg"/><Relationship Id="rId6"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microsoft.com/office/2007/relationships/media" Target="../media/media18.mp3"/><Relationship Id="rId4" Type="http://schemas.openxmlformats.org/officeDocument/2006/relationships/video" Target="../media/media18.mp3"/><Relationship Id="rId5" Type="http://schemas.openxmlformats.org/officeDocument/2006/relationships/image" Target="../media/image2.jpg"/><Relationship Id="rId6"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914400" y="2286000"/>
            <a:ext cx="10360152" cy="1828800"/>
          </a:xfrm>
          <a:prstGeom prst="rect">
            <a:avLst/>
          </a:prstGeom>
          <a:noFill/>
        </p:spPr>
        <p:txBody>
          <a:bodyPr wrap="none">
            <a:spAutoFit/>
          </a:bodyPr>
          <a:lstStyle/>
          <a:p>
            <a:pPr algn="ctr">
              <a:defRPr b="1" sz="6000">
                <a:solidFill>
                  <a:srgbClr val="F8FAFC"/>
                </a:solidFill>
              </a:defRPr>
            </a:pPr>
            <a:r>
              <a:t>MBAI NATIVE - ORIGEN/ÍNDICE</a:t>
            </a:r>
          </a:p>
          <a:p>
            <a:pPr algn="ctr">
              <a:defRPr sz="2800">
                <a:solidFill>
                  <a:srgbClr val="38BDF8"/>
                </a:solidFill>
              </a:defRPr>
            </a:pPr>
            <a:r>
              <a:t>Una Masterclass generada por IA Autónoma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SUMARIO/ÍNDICE</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0.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1. Prospectiva Estratégica</a:t>
            </a:r>
          </a:p>
          <a:p>
            <a:pPr>
              <a:spcBef>
                <a:spcPts val="2000"/>
              </a:spcBef>
              <a:defRPr sz="2400">
                <a:solidFill>
                  <a:srgbClr val="CBD5E1"/>
                </a:solidFill>
              </a:defRPr>
            </a:pPr>
            <a:r>
              <a:t>• 2. Metodología Prospectiva</a:t>
            </a:r>
          </a:p>
          <a:p>
            <a:pPr>
              <a:spcBef>
                <a:spcPts val="2000"/>
              </a:spcBef>
              <a:defRPr sz="2400">
                <a:solidFill>
                  <a:srgbClr val="CBD5E1"/>
                </a:solidFill>
              </a:defRPr>
            </a:pPr>
            <a:r>
              <a:t>• 3. Metodología en EMACON</a:t>
            </a:r>
          </a:p>
          <a:p>
            <a:pPr>
              <a:spcBef>
                <a:spcPts val="2000"/>
              </a:spcBef>
              <a:defRPr sz="2400">
                <a:solidFill>
                  <a:srgbClr val="CBD5E1"/>
                </a:solidFill>
              </a:defRPr>
            </a:pPr>
            <a:r>
              <a:t>• 4. Ejemplo de Ejercicio Prospectivo</a:t>
            </a:r>
          </a:p>
          <a:p>
            <a:pPr>
              <a:spcBef>
                <a:spcPts val="2000"/>
              </a:spcBef>
              <a:defRPr sz="2400">
                <a:solidFill>
                  <a:srgbClr val="CBD5E1"/>
                </a:solidFill>
              </a:defRPr>
            </a:pPr>
            <a:r>
              <a:t>• 5. Coloquio y Preguntas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DIVDEF: ORGANIZACIÓN</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1.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Estructura organizativa clara</a:t>
            </a:r>
          </a:p>
          <a:p>
            <a:pPr>
              <a:spcBef>
                <a:spcPts val="2000"/>
              </a:spcBef>
              <a:defRPr sz="2400">
                <a:solidFill>
                  <a:srgbClr val="CBD5E1"/>
                </a:solidFill>
              </a:defRPr>
            </a:pPr>
            <a:r>
              <a:t>• Objetivos alineados con la prospectiva</a:t>
            </a:r>
          </a:p>
          <a:p>
            <a:pPr>
              <a:spcBef>
                <a:spcPts val="2000"/>
              </a:spcBef>
              <a:defRPr sz="2400">
                <a:solidFill>
                  <a:srgbClr val="CBD5E1"/>
                </a:solidFill>
              </a:defRPr>
            </a:pPr>
            <a:r>
              <a:t>• Enfoque en desarrollo estratégico</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DIVDEF-SEYAP: PROSPECTIVA ESTRATÉGICA</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2.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Misión de anticipación</a:t>
            </a:r>
          </a:p>
          <a:p>
            <a:pPr>
              <a:spcBef>
                <a:spcPts val="2000"/>
              </a:spcBef>
              <a:defRPr sz="2400">
                <a:solidFill>
                  <a:srgbClr val="CBD5E1"/>
                </a:solidFill>
              </a:defRPr>
            </a:pPr>
            <a:r>
              <a:t>• Análisis dinámico del entorno</a:t>
            </a:r>
          </a:p>
          <a:p>
            <a:pPr>
              <a:spcBef>
                <a:spcPts val="2000"/>
              </a:spcBef>
              <a:defRPr sz="2400">
                <a:solidFill>
                  <a:srgbClr val="CBD5E1"/>
                </a:solidFill>
              </a:defRPr>
            </a:pPr>
            <a:r>
              <a:t>• Desarrollo de capacidades estratégicas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¿QUÉ HACEMOS?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0_3.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Definición de prospectiva</a:t>
            </a:r>
          </a:p>
          <a:p>
            <a:pPr>
              <a:spcBef>
                <a:spcPts val="2000"/>
              </a:spcBef>
              <a:defRPr sz="2400">
                <a:solidFill>
                  <a:srgbClr val="CBD5E1"/>
                </a:solidFill>
              </a:defRPr>
            </a:pPr>
            <a:r>
              <a:t>• Identificación de futuros alternativos</a:t>
            </a:r>
          </a:p>
          <a:p>
            <a:pPr>
              <a:spcBef>
                <a:spcPts val="2000"/>
              </a:spcBef>
              <a:defRPr sz="2400">
                <a:solidFill>
                  <a:srgbClr val="CBD5E1"/>
                </a:solidFill>
              </a:defRPr>
            </a:pPr>
            <a:r>
              <a:t>• Contribución a la toma de decisiones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¿PARA QUÉ SIRVE LA PROSPECTIVA ESTRATÉGICA?</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Informar el proceso de planeamiento</a:t>
            </a:r>
          </a:p>
          <a:p>
            <a:pPr>
              <a:spcBef>
                <a:spcPts val="2000"/>
              </a:spcBef>
              <a:defRPr sz="2400">
                <a:solidFill>
                  <a:srgbClr val="CBD5E1"/>
                </a:solidFill>
              </a:defRPr>
            </a:pPr>
            <a:r>
              <a:t>• Apoyar la consciencia situacional</a:t>
            </a:r>
          </a:p>
          <a:p>
            <a:pPr>
              <a:spcBef>
                <a:spcPts val="2000"/>
              </a:spcBef>
              <a:defRPr sz="2400">
                <a:solidFill>
                  <a:srgbClr val="CBD5E1"/>
                </a:solidFill>
              </a:defRPr>
            </a:pPr>
            <a:r>
              <a:t>• Impulsar el ciclo de desarrollo estratégico</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METODOLOGÍA</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HORIZONTE TEMPORAL</a:t>
            </a:r>
          </a:p>
          <a:p>
            <a:pPr>
              <a:spcBef>
                <a:spcPts val="2000"/>
              </a:spcBef>
              <a:defRPr sz="2400">
                <a:solidFill>
                  <a:srgbClr val="CBD5E1"/>
                </a:solidFill>
              </a:defRPr>
            </a:pPr>
            <a:r>
              <a:t>• Sabiduría de grupo</a:t>
            </a:r>
          </a:p>
          <a:p>
            <a:pPr>
              <a:spcBef>
                <a:spcPts val="2000"/>
              </a:spcBef>
              <a:defRPr sz="2400">
                <a:solidFill>
                  <a:srgbClr val="CBD5E1"/>
                </a:solidFill>
              </a:defRPr>
            </a:pPr>
            <a:r>
              <a:t>• Evaluación de fuerzas motrices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6.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FUERZAS MOTRICES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2.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Incertidumbres clave</a:t>
            </a:r>
          </a:p>
          <a:p>
            <a:pPr>
              <a:spcBef>
                <a:spcPts val="2000"/>
              </a:spcBef>
              <a:defRPr sz="2400">
                <a:solidFill>
                  <a:srgbClr val="CBD5E1"/>
                </a:solidFill>
              </a:defRPr>
            </a:pPr>
            <a:r>
              <a:t>• Tendencias estables</a:t>
            </a:r>
          </a:p>
          <a:p>
            <a:pPr>
              <a:spcBef>
                <a:spcPts val="2000"/>
              </a:spcBef>
              <a:defRPr sz="2400">
                <a:solidFill>
                  <a:srgbClr val="CBD5E1"/>
                </a:solidFill>
              </a:defRPr>
            </a:pPr>
            <a:r>
              <a:t>• Señales de atención</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ANÁLISIS ESTRATÉGICO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3.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Mapa de dominios</a:t>
            </a:r>
          </a:p>
          <a:p>
            <a:pPr>
              <a:spcBef>
                <a:spcPts val="2000"/>
              </a:spcBef>
              <a:defRPr sz="2400">
                <a:solidFill>
                  <a:srgbClr val="CBD5E1"/>
                </a:solidFill>
              </a:defRPr>
            </a:pPr>
            <a:r>
              <a:t>• Mapa de actores</a:t>
            </a:r>
          </a:p>
          <a:p>
            <a:pPr>
              <a:spcBef>
                <a:spcPts val="2000"/>
              </a:spcBef>
              <a:defRPr sz="2400">
                <a:solidFill>
                  <a:srgbClr val="CBD5E1"/>
                </a:solidFill>
              </a:defRPr>
            </a:pPr>
            <a:r>
              <a:t>• Análisis de estratos causales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8.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TÉCNICAS PARA IDENTIFICAR FUERZAS MOTRICES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4.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Backcasting</a:t>
            </a:r>
          </a:p>
          <a:p>
            <a:pPr>
              <a:spcBef>
                <a:spcPts val="2000"/>
              </a:spcBef>
              <a:defRPr sz="2400">
                <a:solidFill>
                  <a:srgbClr val="CBD5E1"/>
                </a:solidFill>
              </a:defRPr>
            </a:pPr>
            <a:r>
              <a:t>• Visión retrospectiva</a:t>
            </a:r>
          </a:p>
          <a:p>
            <a:pPr>
              <a:spcBef>
                <a:spcPts val="2000"/>
              </a:spcBef>
              <a:defRPr sz="2400">
                <a:solidFill>
                  <a:srgbClr val="CBD5E1"/>
                </a:solidFill>
              </a:defRPr>
            </a:pPr>
            <a:r>
              <a:t>• Triángulo de futuros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9.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GESTIÓN DE FUERZAS MOTRICES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2_0.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Reconocimiento y monitorización</a:t>
            </a:r>
          </a:p>
          <a:p>
            <a:pPr>
              <a:spcBef>
                <a:spcPts val="2000"/>
              </a:spcBef>
              <a:defRPr sz="2400">
                <a:solidFill>
                  <a:srgbClr val="CBD5E1"/>
                </a:solidFill>
              </a:defRPr>
            </a:pPr>
            <a:r>
              <a:t>• Estrategias de adaptación</a:t>
            </a:r>
          </a:p>
          <a:p>
            <a:pPr>
              <a:spcBef>
                <a:spcPts val="2000"/>
              </a:spcBef>
              <a:defRPr sz="2400">
                <a:solidFill>
                  <a:srgbClr val="CBD5E1"/>
                </a:solidFill>
              </a:defRPr>
            </a:pPr>
            <a:r>
              <a:t>• Evaluación continua</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0.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CONSTRUCCIÓN DE ESCENARIOS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2_1.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Definición de escenarios</a:t>
            </a:r>
          </a:p>
          <a:p>
            <a:pPr>
              <a:spcBef>
                <a:spcPts val="2000"/>
              </a:spcBef>
              <a:defRPr sz="2400">
                <a:solidFill>
                  <a:srgbClr val="CBD5E1"/>
                </a:solidFill>
              </a:defRPr>
            </a:pPr>
            <a:r>
              <a:t>• Visualización de alternativas</a:t>
            </a:r>
          </a:p>
          <a:p>
            <a:pPr>
              <a:spcBef>
                <a:spcPts val="2000"/>
              </a:spcBef>
              <a:defRPr sz="2400">
                <a:solidFill>
                  <a:srgbClr val="CBD5E1"/>
                </a:solidFill>
              </a:defRPr>
            </a:pPr>
            <a:r>
              <a:t>• Relato de posibilidades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1.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INDUCTIVO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Futuro oficial</a:t>
            </a:r>
          </a:p>
          <a:p>
            <a:pPr>
              <a:spcBef>
                <a:spcPts val="2000"/>
              </a:spcBef>
              <a:defRPr sz="2400">
                <a:solidFill>
                  <a:srgbClr val="CBD5E1"/>
                </a:solidFill>
              </a:defRPr>
            </a:pPr>
            <a:r>
              <a:t>• Desviaciones del futuro</a:t>
            </a:r>
          </a:p>
          <a:p>
            <a:pPr>
              <a:spcBef>
                <a:spcPts val="2000"/>
              </a:spcBef>
              <a:defRPr sz="2400">
                <a:solidFill>
                  <a:srgbClr val="CBD5E1"/>
                </a:solidFill>
              </a:defRPr>
            </a:pPr>
            <a:r>
              <a:t>• Construcción de escenarios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2.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DEDUCTIVO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Variables críticas</a:t>
            </a:r>
          </a:p>
          <a:p>
            <a:pPr>
              <a:spcBef>
                <a:spcPts val="2000"/>
              </a:spcBef>
              <a:defRPr sz="2400">
                <a:solidFill>
                  <a:srgbClr val="CBD5E1"/>
                </a:solidFill>
              </a:defRPr>
            </a:pPr>
            <a:r>
              <a:t>• Matriz de escenarios</a:t>
            </a:r>
          </a:p>
          <a:p>
            <a:pPr>
              <a:spcBef>
                <a:spcPts val="2000"/>
              </a:spcBef>
              <a:defRPr sz="2400">
                <a:solidFill>
                  <a:srgbClr val="CBD5E1"/>
                </a:solidFill>
              </a:defRPr>
            </a:pPr>
            <a:r>
              <a:t>• Análisis de interacciones</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3.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CONSTRUCTIVO</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2.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Combinación de fuerzas motrices</a:t>
            </a:r>
          </a:p>
          <a:p>
            <a:pPr>
              <a:spcBef>
                <a:spcPts val="2000"/>
              </a:spcBef>
              <a:defRPr sz="2400">
                <a:solidFill>
                  <a:srgbClr val="CBD5E1"/>
                </a:solidFill>
              </a:defRPr>
            </a:pPr>
            <a:r>
              <a:t>• Identificación de eventos</a:t>
            </a:r>
          </a:p>
          <a:p>
            <a:pPr>
              <a:spcBef>
                <a:spcPts val="2000"/>
              </a:spcBef>
              <a:defRPr sz="2400">
                <a:solidFill>
                  <a:srgbClr val="CBD5E1"/>
                </a:solidFill>
              </a:defRPr>
            </a:pPr>
            <a:r>
              <a:t>• Visualización de interactuaciones</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4.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MÉTODO SILVER LINING</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3_3.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Paso a paso estructurado</a:t>
            </a:r>
          </a:p>
          <a:p>
            <a:pPr>
              <a:spcBef>
                <a:spcPts val="2000"/>
              </a:spcBef>
              <a:defRPr sz="2400">
                <a:solidFill>
                  <a:srgbClr val="CBD5E1"/>
                </a:solidFill>
              </a:defRPr>
            </a:pPr>
            <a:r>
              <a:t>• Minimización de errores</a:t>
            </a:r>
          </a:p>
          <a:p>
            <a:pPr>
              <a:spcBef>
                <a:spcPts val="2000"/>
              </a:spcBef>
              <a:defRPr sz="2400">
                <a:solidFill>
                  <a:srgbClr val="CBD5E1"/>
                </a:solidFill>
              </a:defRPr>
            </a:pPr>
            <a:r>
              <a:t>• Construcción acumulativa</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5.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FASE 1: DETERMINACIÓN DE OBJETIVOS Y HORIZONTE TEMPORAL</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3_4.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Definir el tema de estudio</a:t>
            </a:r>
          </a:p>
          <a:p>
            <a:pPr>
              <a:spcBef>
                <a:spcPts val="2000"/>
              </a:spcBef>
              <a:defRPr sz="2400">
                <a:solidFill>
                  <a:srgbClr val="CBD5E1"/>
                </a:solidFill>
              </a:defRPr>
            </a:pPr>
            <a:r>
              <a:t>• Establecer horizonte temporal</a:t>
            </a:r>
          </a:p>
          <a:p>
            <a:pPr>
              <a:spcBef>
                <a:spcPts val="2000"/>
              </a:spcBef>
              <a:defRPr sz="2400">
                <a:solidFill>
                  <a:srgbClr val="CBD5E1"/>
                </a:solidFill>
              </a:defRPr>
            </a:pPr>
            <a:r>
              <a:t>• Fundamentos para el ejercicio</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6.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FASE 2: DEFINIR MARCO DE SITUACIÓN</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0.jpg"/>
          <p:cNvPicPr>
            <a:picLocks noChangeAspect="1"/>
          </p:cNvPicPr>
          <p:nvPr/>
        </p:nvPicPr>
        <p:blipFill>
          <a:blip r:embed="rId2"/>
          <a:stretch>
            <a:fillRect/>
          </a:stretch>
        </p:blipFill>
        <p:spPr>
          <a:xfrm>
            <a:off x="731520" y="1645920"/>
            <a:ext cx="4572000" cy="4114800"/>
          </a:xfrm>
          <a:prstGeom prst="rect">
            <a:avLst/>
          </a:prstGeom>
        </p:spPr>
      </p:pic>
      <p:sp>
        <p:nvSpPr>
          <p:cNvPr id="5" name="TextBox 4"/>
          <p:cNvSpPr txBox="1"/>
          <p:nvPr/>
        </p:nvSpPr>
        <p:spPr>
          <a:xfrm>
            <a:off x="5760720" y="1645920"/>
            <a:ext cx="5669280" cy="4114800"/>
          </a:xfrm>
          <a:prstGeom prst="rect">
            <a:avLst/>
          </a:prstGeom>
          <a:noFill/>
        </p:spPr>
        <p:txBody>
          <a:bodyPr wrap="square">
            <a:spAutoFit/>
          </a:bodyPr>
          <a:lstStyle/>
          <a:p>
            <a:pPr>
              <a:spcBef>
                <a:spcPts val="2000"/>
              </a:spcBef>
              <a:defRPr sz="2400">
                <a:solidFill>
                  <a:srgbClr val="CBD5E1"/>
                </a:solidFill>
              </a:defRPr>
            </a:pPr>
            <a:r>
              <a:t>• Estado actual del tema</a:t>
            </a:r>
          </a:p>
          <a:p>
            <a:pPr>
              <a:spcBef>
                <a:spcPts val="2000"/>
              </a:spcBef>
              <a:defRPr sz="2400">
                <a:solidFill>
                  <a:srgbClr val="CBD5E1"/>
                </a:solidFill>
              </a:defRPr>
            </a:pPr>
            <a:r>
              <a:t>• Características y hechos constatados</a:t>
            </a:r>
          </a:p>
          <a:p>
            <a:pPr>
              <a:spcBef>
                <a:spcPts val="2000"/>
              </a:spcBef>
              <a:defRPr sz="2400">
                <a:solidFill>
                  <a:srgbClr val="CBD5E1"/>
                </a:solidFill>
              </a:defRPr>
            </a:pPr>
            <a:r>
              <a:t>• Modelo DIME / PMESII</a:t>
            </a:r>
          </a:p>
        </p:txBody>
      </p:sp>
      <p:sp>
        <p:nvSpPr>
          <p:cNvPr id="6" name="TextBox 5"/>
          <p:cNvSpPr txBox="1"/>
          <p:nvPr/>
        </p:nvSpPr>
        <p:spPr>
          <a:xfrm>
            <a:off x="73152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7.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731520" y="365760"/>
            <a:ext cx="10725912" cy="914400"/>
          </a:xfrm>
          <a:prstGeom prst="rect">
            <a:avLst/>
          </a:prstGeom>
          <a:noFill/>
        </p:spPr>
        <p:txBody>
          <a:bodyPr wrap="none">
            <a:spAutoFit/>
          </a:bodyPr>
          <a:lstStyle/>
          <a:p>
            <a:pPr>
              <a:defRPr b="1" sz="4000">
                <a:solidFill>
                  <a:srgbClr val="F8FAFC"/>
                </a:solidFill>
              </a:defRPr>
            </a:pPr>
            <a:r>
              <a:t>FASE 3: ESTABLECER/DEFINIR LOS EVENTOS</a:t>
            </a:r>
          </a:p>
        </p:txBody>
      </p:sp>
      <p:sp>
        <p:nvSpPr>
          <p:cNvPr id="3" name="TextBox 2"/>
          <p:cNvSpPr txBox="1"/>
          <p:nvPr/>
        </p:nvSpPr>
        <p:spPr>
          <a:xfrm>
            <a:off x="731520" y="1188720"/>
            <a:ext cx="2743200" cy="45720"/>
          </a:xfrm>
          <a:prstGeom prst="rect">
            <a:avLst/>
          </a:prstGeom>
          <a:solidFill>
            <a:srgbClr val="38BDF8"/>
          </a:solidFill>
        </p:spPr>
        <p:txBody>
          <a:bodyPr wrap="none">
            <a:spAutoFit/>
          </a:bodyPr>
          <a:lstStyle/>
          <a:p/>
        </p:txBody>
      </p:sp>
      <p:pic>
        <p:nvPicPr>
          <p:cNvPr id="4" name="Picture 3" descr="pdf_img_p1_1.jpg"/>
          <p:cNvPicPr>
            <a:picLocks noChangeAspect="1"/>
          </p:cNvPicPr>
          <p:nvPr/>
        </p:nvPicPr>
        <p:blipFill>
          <a:blip r:embed="rId2"/>
          <a:stretch>
            <a:fillRect/>
          </a:stretch>
        </p:blipFill>
        <p:spPr>
          <a:xfrm>
            <a:off x="6858000" y="1645920"/>
            <a:ext cx="4572000" cy="4114800"/>
          </a:xfrm>
          <a:prstGeom prst="rect">
            <a:avLst/>
          </a:prstGeom>
        </p:spPr>
      </p:pic>
      <p:sp>
        <p:nvSpPr>
          <p:cNvPr id="5" name="TextBox 4"/>
          <p:cNvSpPr txBox="1"/>
          <p:nvPr/>
        </p:nvSpPr>
        <p:spPr>
          <a:xfrm>
            <a:off x="731520" y="1645920"/>
            <a:ext cx="5486400" cy="4114800"/>
          </a:xfrm>
          <a:prstGeom prst="rect">
            <a:avLst/>
          </a:prstGeom>
          <a:noFill/>
        </p:spPr>
        <p:txBody>
          <a:bodyPr wrap="square">
            <a:spAutoFit/>
          </a:bodyPr>
          <a:lstStyle/>
          <a:p>
            <a:pPr>
              <a:spcBef>
                <a:spcPts val="2000"/>
              </a:spcBef>
              <a:defRPr sz="2400">
                <a:solidFill>
                  <a:srgbClr val="CBD5E1"/>
                </a:solidFill>
              </a:defRPr>
            </a:pPr>
            <a:r>
              <a:t>• Identificación de hechos potenciales</a:t>
            </a:r>
          </a:p>
          <a:p>
            <a:pPr>
              <a:spcBef>
                <a:spcPts val="2000"/>
              </a:spcBef>
              <a:defRPr sz="2400">
                <a:solidFill>
                  <a:srgbClr val="CBD5E1"/>
                </a:solidFill>
              </a:defRPr>
            </a:pPr>
            <a:r>
              <a:t>• Amenazas y oportunidades</a:t>
            </a:r>
          </a:p>
          <a:p>
            <a:pPr>
              <a:spcBef>
                <a:spcPts val="2000"/>
              </a:spcBef>
              <a:defRPr sz="2400">
                <a:solidFill>
                  <a:srgbClr val="CBD5E1"/>
                </a:solidFill>
              </a:defRPr>
            </a:pPr>
            <a:r>
              <a:t>• Impacto en el marco vigente</a:t>
            </a:r>
          </a:p>
        </p:txBody>
      </p:sp>
      <p:sp>
        <p:nvSpPr>
          <p:cNvPr id="6" name="TextBox 5"/>
          <p:cNvSpPr txBox="1"/>
          <p:nvPr/>
        </p:nvSpPr>
        <p:spPr>
          <a:xfrm>
            <a:off x="6858000" y="5852160"/>
            <a:ext cx="4572000" cy="457200"/>
          </a:xfrm>
          <a:prstGeom prst="rect">
            <a:avLst/>
          </a:prstGeom>
          <a:noFill/>
        </p:spPr>
        <p:txBody>
          <a:bodyPr wrap="none">
            <a:spAutoFit/>
          </a:bodyPr>
          <a:lstStyle/>
          <a:p>
            <a:pPr>
              <a:defRPr sz="1100" i="1">
                <a:solidFill>
                  <a:srgbClr val="64748B"/>
                </a:solidFill>
              </a:defRPr>
            </a:pPr>
            <a:r>
              <a:t>Fuente: Extracción Nativa del PDF Aportado</a:t>
            </a:r>
          </a:p>
        </p:txBody>
      </p:sp>
      <p:pic>
        <p:nvPicPr>
          <p:cNvPr id="7" name="narration_slide_18.mp3">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1247120" y="365760"/>
            <a:ext cx="457200" cy="457200"/>
          </a:xfrm>
          <a:prstGeom prst="rect">
            <a:avLst/>
          </a:prstGeom>
        </p:spPr>
      </p:pic>
      <p:sp>
        <p:nvSpPr>
          <p:cNvPr id="8" name="TextBox 7"/>
          <p:cNvSpPr txBox="1"/>
          <p:nvPr/>
        </p:nvSpPr>
        <p:spPr>
          <a:xfrm>
            <a:off x="9601200" y="6217920"/>
            <a:ext cx="2286000" cy="457200"/>
          </a:xfrm>
          <a:prstGeom prst="rect">
            <a:avLst/>
          </a:prstGeom>
          <a:noFill/>
        </p:spPr>
        <p:txBody>
          <a:bodyPr wrap="none">
            <a:spAutoFit/>
          </a:bodyPr>
          <a:lstStyle/>
          <a:p>
            <a:pPr algn="r">
              <a:defRPr sz="1400" b="1">
                <a:solidFill>
                  <a:srgbClr val="38BDF8"/>
                </a:solidFill>
              </a:defRPr>
            </a:pPr>
            <a:r>
              <a:t>MBAI NATIVE</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7"/>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
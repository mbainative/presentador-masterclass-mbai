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video/mp4"/>
  <Override PartName="/ppt/media/media10.mp3" ContentType="video/mp4"/>
  <Override PartName="/ppt/media/media11.mp3" ContentType="video/mp4"/>
  <Override PartName="/ppt/media/media12.mp3" ContentType="video/mp4"/>
  <Override PartName="/ppt/media/media13.mp3" ContentType="video/mp4"/>
  <Override PartName="/ppt/media/media14.mp3" ContentType="video/mp4"/>
  <Override PartName="/ppt/media/media15.mp3" ContentType="video/mp4"/>
  <Override PartName="/ppt/media/media16.mp3" ContentType="video/mp4"/>
  <Override PartName="/ppt/media/media17.mp3" ContentType="video/mp4"/>
  <Override PartName="/ppt/media/media18.mp3" ContentType="video/mp4"/>
  <Override PartName="/ppt/media/media19.mp3" ContentType="video/mp4"/>
  <Override PartName="/ppt/media/media2.mp3" ContentType="video/mp4"/>
  <Override PartName="/ppt/media/media20.mp3" ContentType="video/mp4"/>
  <Override PartName="/ppt/media/media21.mp3" ContentType="video/mp4"/>
  <Override PartName="/ppt/media/media22.mp3" ContentType="video/mp4"/>
  <Override PartName="/ppt/media/media23.mp3" ContentType="video/mp4"/>
  <Override PartName="/ppt/media/media3.mp3" ContentType="video/mp4"/>
  <Override PartName="/ppt/media/media4.mp3" ContentType="video/mp4"/>
  <Override PartName="/ppt/media/media5.mp3" ContentType="video/mp4"/>
  <Override PartName="/ppt/media/media6.mp3" ContentType="video/mp4"/>
  <Override PartName="/ppt/media/media7.mp3" ContentType="video/mp4"/>
  <Override PartName="/ppt/media/media8.mp3" ContentType="video/mp4"/>
  <Override PartName="/ppt/media/media9.mp3" ContentType="vide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Bienvenidos a nuestra masterclass sobre 'Silver Lining'. Hoy cubriremos una serie de temas fundamentales que componen la prospectiva estratégica en el contexto de análisis y desarrollo. El índice abarca cinco secciones destacadas, comenzando con la prospectiva estratégica, luego exploraremos la metodología utilizada en este campo. Posteriormente, revisaremos cómo se aplica esta metodología en EMACON, seguido de un ejercicio prospectivo práctico y finalmente, abriremos un espacio para preguntas y discusión.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prospectiva estratégica es una disciplina que permite a las organizaciones anticipar y prepararse para futuros escenarios, facilitando la toma de decisiones acertadas. Este enfoque sistemático y estructurado ayuda a evitar sorpresas estratégicas, evaluando diferentes posibilidades futuras. Su finalidad no es predecir el futuro, sino prepararse para diversos caminos que pueden surgir, aumentando así la adaptabilidad de la organización.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metodología prospectiva se caracteriza por su enfoque estructurado y dinámico. Se basa en la colaboración de diferentes actores para identificar y construir escenarios alternativos. La revisión periódica de estos escenarios permite a las organizaciones ajustarse a cambios en el entorno y en sus objetivos estratégicos. Este proceso no solo es reactivo sino también proactivo, en donde la anticipación se convierte en clave para el éxito a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En EMACON, seguimos una metodología clara que se enfoca en la alineación de objetivos y procesos. Cada fase se ha definido para facilitar el avance en el ejercicio prospectivo, asegurando que todas las partes interesadas estén en sintonía. La estructura adecuada minimiza las posibilidades de error y asegura que se cubran todos los aspectos necesarios. Este enfoque permite llevar a cabo análisis más profundos y efectivos.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Para ejemplificar cómo funciona la prospectiva estratégica, vamos a revisar un caso práctico. En este ejercicio, se seguirán pasos claros para analizar la situación actual, identificar eventos futuros, y finalmente, construir escenarios. Los resultados de este caso no solo nos brindarán una mejor comprensión de la metodología, sino que también nos enseñarán valiosas lecciones que podemos aplicar en futuros análisis.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Nuestra labor se centra en mapear el camino desde la situación actual hacia el futuro deseado. Para ello, se procede a la identificación de variables clave que influirán en nuestro análisis. Esta práctica permite a las organizaciones ser flexibles y adaptarse a los cambios, asegurando así la viabilidad y sostenibilidad de sus estrategias a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prospectiva estratégica, en su esencia, es un enfoque sistemático y colaborativo que busca identificar y analizar futuros alternativos. Este proceso requiere una evaluación continua para que la organización pueda adaptarse a lo que el futuro presenta. Con ello, se buscan construir bases sólidas que minimicen la incertidumbre y permitan una mejor toma de decisiones.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Es esencial comprender la diferencia entre la situación actual y la situación final buscada. Definir con claridad la situación actual brinda una base sólida para propiciar cambios hacia el futuro deseado. A partir de esta evaluación, se identifican las brechas que es necesario cerrar, lo que marca el camino a seguir.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prospectiva estratégica se convierte en una herramienta invaluable para informar procesos de planeamiento. Proporciona una base sólida sobre la cual las decisiones estratégicas pueden ser fundamentadas, apoyando así a las organizaciones a iniciar ciclos de desarrollo que sean coherentes con el análisis del entorno. De esta forma, se busca no solo reaccionar a eventos, sino anticipar y estar preparados para ellos.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Las fuerzas motrices que afectan el futuro pueden ser categorizadas en diferentes tipos. Identificar incertidumbres clave que podrían actuar como 'game changers' es crucial. Además, las tendencias estables, o 'megatrends', nos dan una visión a largo plazo de lo que es probable que ocurra. Por último, las señales de atención o 'weak signals' pueden advertirnos de cambios inminentes que requieren nuestra atención.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Es importante aprender a prestar atención a lo inesperado, así como a no descartar lo que puede parecer obvio. En la prospectiva estratégica, estar alerta ante los cambios que ocurren en nuestro entorno es fundamental. Esto requiere un enfoque de adaptación continua, donde las organizaciones reproducen un ciclo de observación y respuesta que les mantiene relevantes frente a la dinámica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En el análisis estratégico, utilizamos herramientas visuales como mapas de dominios y mapas de actores para comprender mejor el panorama en el que nos movemos. Esta visualización permite identificar dinámicas complejas y relaciones entre diferentes partes interesadas. El análisis de estratos causales ayuda a desglosar problemas complejos y a entender las causas subyacentes de las tendencias y eventos que nos afectan.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Existen diversas técnicas para identificar fuerzas motrices. El 'backcasting', que nos permite visualizar el futuro desde la perspectiva del presente hacia atrás, es una herramienta poderosa. Por otro lado, el 'triángulo de futuros' y la 'rueda de futuros' son métodos que facilitan la estructuración de escenarios y la identificación de variables que pueden influir en el futuro. Estas herramientas pueden ser aplicadas en nuestros análisis para construir escenarios más robustos.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matriz DAFO o SWOT es una técnica ampliamente utilizada en la prospectiva estratégica. Permite una visión integral del entorno en el que opera la organización, facilitando la identificación de debilidades y fortalezas internas, así como oportunidades y amenazas externas. Este análisis es fundamental para fundamentar decisiones estratégicas y planificar el futuro de manera informada.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recurrencia a otros estudios prospectivos permite aprender de experiencias previas. Esta práctica puede validar hipótesis y ayudar a encontrar mejores prácticas que se han demostrado efectivas en contextos similares. Analizar el trabajo de otros puede ofrecer nuevas perspectivas y enriquecer el análisis que se esté llevando a cabo, aumentando la efectividad del ejercicio prospectivo.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Una parte crucial de la prospectiva estratégica es la gestión de las fuerzas motrices. Esto incluye el control de variables clave que puedan influir en el futuro deseado. Mantener una flexibilidad para adaptarse a los cambios y anticipar cuáles serán los próximos movimientos del entorno es necesario para garantizar que la organización permanezca en una posición favorable a lo largo del tiempo.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construcción de escenarios es una técnica que permite visualizar distintas alternativas de futuro. Este proceso debe manejar un número que sea comprensible para el equipo de trabajo, evitando la sobrecarga de información. Los métodos inductivos y deductivos se utilizan para formular escenarios basados en las fuerzas motrices y variables críticas que se han identificado.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inductivo, conocido como 'Futures Cone', propuesto por J. Voros, es una herramienta que nos ayuda a visualizar el futuro a partir de un estado oficial y las desviaciones posibles. Este enfoque permite que se consideren múltiples escenarios, desde los más probables hasta los más extravagantes, ayudando a preparar a la organización para cualquier eventualidad.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deductivo implica la creación de una matriz de escenarios a partir de dos variables o incertidumbres críticas. Este enfoque permite visualizar cómo diferentes combinaciones de estas variables pueden resultar en escenarios distintos. De esta manera, se pueden explorar los resultados potenciales y preparar respuestas adecuadas para cada uno de ellos.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constructivo se basa en la combinación de fuerzas motrices, drivers o eventos para formular escenarios diversificados. Este enfoque permite proyectar eventos futuros a partir de la interacción de diferentes variables que pueden influir en el contexto. Mediante esta técnica, se busca crear un panorama más exhaustivo y realista de las posibilidades que se presentan en el horizonte temporal establecido.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metodología Silver Lining se presenta como un proceso ágil y flexible que permite a las organizaciones adaptarse a diversas situaciones. Este enfoque se centra en la resolución de problemas y en cómo los diferentes escenarios pueden ser manejados para maximizar las oportunidades y minimizar los riesgos. Es un sistema adaptable que se puede aplicar a múltiples contextos y situaciones estratégicas.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Silver Lining se caracteriza por su estructura de pasos claros que guían el ejercicio prospectivo. Inicia con la identificación y definición de objetivos, seguido de la creación de escenarios que reflejen las incertidumbres clave. Es importante entender que tanto los errores como los aciertos en cada fase son acumulativos, afectando el resto del ejercicio y la calidad de la prospectiva realizada.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Llegamos al final de nuestra masterclass, abriendo un espacio para el coloquio y preguntas. Este es un momento crucial para la interacción entre participantes, donde podemos continuar explorando y reforzando los conceptos discutidos. Agradezco profundamente su atención y espero que esta sesión haya sido esclarecedora y útil para sus propias prácticas en prospectiva estratégica.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2.jpg"/><Relationship Id="rId6"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2.jpg"/><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2.jpg"/><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2.jpg"/><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2.jpg"/><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2.jp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2.jpg"/><Relationship Id="rId6"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2.jpg"/><Relationship Id="rId6"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2.jpg"/><Relationship Id="rId6"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2.jpg"/><Relationship Id="rId6"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2.jpg"/><Relationship Id="rId6"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2.jpg"/><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2.jpg"/><Relationship Id="rId6"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2.jpg"/><Relationship Id="rId6"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2.jpg"/><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2.jpg"/><Relationship Id="rId6"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2.jpg"/><Relationship Id="rId6"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2.jpg"/><Relationship Id="rId6"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2.jpg"/><Relationship Id="rId6"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2.jpg"/><Relationship Id="rId6"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2.jpg"/><Relationship Id="rId6"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22.mp3"/><Relationship Id="rId4" Type="http://schemas.openxmlformats.org/officeDocument/2006/relationships/video" Target="../media/media22.mp3"/><Relationship Id="rId5" Type="http://schemas.openxmlformats.org/officeDocument/2006/relationships/image" Target="../media/image2.jpg"/><Relationship Id="rId6"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23.mp3"/><Relationship Id="rId4" Type="http://schemas.openxmlformats.org/officeDocument/2006/relationships/video" Target="../media/media23.mp3"/><Relationship Id="rId5" Type="http://schemas.openxmlformats.org/officeDocument/2006/relationships/image" Target="../media/image2.jpg"/><Relationship Id="rId6"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10360152" cy="1828800"/>
          </a:xfrm>
          <a:prstGeom prst="rect">
            <a:avLst/>
          </a:prstGeom>
          <a:noFill/>
        </p:spPr>
        <p:txBody>
          <a:bodyPr wrap="none">
            <a:spAutoFit/>
          </a:bodyPr>
          <a:lstStyle/>
          <a:p>
            <a:pPr algn="ctr">
              <a:defRPr b="1" sz="6000">
                <a:solidFill>
                  <a:srgbClr val="F8FAFC"/>
                </a:solidFill>
              </a:defRPr>
            </a:pPr>
            <a:r>
              <a:t>MBAI NATIVE - ORIGEN/ÍNDICE</a:t>
            </a:r>
          </a:p>
          <a:p>
            <a:pPr algn="ctr">
              <a:defRPr sz="2800">
                <a:solidFill>
                  <a:srgbClr val="38BDF8"/>
                </a:solidFill>
              </a:defRPr>
            </a:pPr>
            <a:r>
              <a:t>Una Masterclass generada por IA Autónoma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SUMARIO/ÍNDICE</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0.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1. Prospectiva Estratégica</a:t>
            </a:r>
          </a:p>
          <a:p>
            <a:pPr>
              <a:spcBef>
                <a:spcPts val="2000"/>
              </a:spcBef>
              <a:defRPr sz="2400">
                <a:solidFill>
                  <a:srgbClr val="CBD5E1"/>
                </a:solidFill>
              </a:defRPr>
            </a:pPr>
            <a:r>
              <a:t>• 2. Metodología Prospectiva</a:t>
            </a:r>
          </a:p>
          <a:p>
            <a:pPr>
              <a:spcBef>
                <a:spcPts val="2000"/>
              </a:spcBef>
              <a:defRPr sz="2400">
                <a:solidFill>
                  <a:srgbClr val="CBD5E1"/>
                </a:solidFill>
              </a:defRPr>
            </a:pPr>
            <a:r>
              <a:t>• 3. Metodología en EMACON</a:t>
            </a:r>
          </a:p>
          <a:p>
            <a:pPr>
              <a:spcBef>
                <a:spcPts val="2000"/>
              </a:spcBef>
              <a:defRPr sz="2400">
                <a:solidFill>
                  <a:srgbClr val="CBD5E1"/>
                </a:solidFill>
              </a:defRPr>
            </a:pPr>
            <a:r>
              <a:t>• 4. Ejemplo de Ejercicio Prospectivo</a:t>
            </a:r>
          </a:p>
          <a:p>
            <a:pPr>
              <a:spcBef>
                <a:spcPts val="2000"/>
              </a:spcBef>
              <a:defRPr sz="2400">
                <a:solidFill>
                  <a:srgbClr val="CBD5E1"/>
                </a:solidFill>
              </a:defRPr>
            </a:pPr>
            <a:r>
              <a:t>• 5. Coloquio y Preguntas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PROSPECTIVA ESTRATÉGICA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1.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Definición clara y objetiva</a:t>
            </a:r>
          </a:p>
          <a:p>
            <a:pPr>
              <a:spcBef>
                <a:spcPts val="2000"/>
              </a:spcBef>
              <a:defRPr sz="2400">
                <a:solidFill>
                  <a:srgbClr val="CBD5E1"/>
                </a:solidFill>
              </a:defRPr>
            </a:pPr>
            <a:r>
              <a:t>• Identificación de escenarios futuros</a:t>
            </a:r>
          </a:p>
          <a:p>
            <a:pPr>
              <a:spcBef>
                <a:spcPts val="2000"/>
              </a:spcBef>
              <a:defRPr sz="2400">
                <a:solidFill>
                  <a:srgbClr val="CBD5E1"/>
                </a:solidFill>
              </a:defRPr>
            </a:pPr>
            <a:r>
              <a:t>• Evitación de sorpresas estratégicas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METODOLOGÍA PROSPECTIVA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2.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Enfoque estructurado y dinámico</a:t>
            </a:r>
          </a:p>
          <a:p>
            <a:pPr>
              <a:spcBef>
                <a:spcPts val="2000"/>
              </a:spcBef>
              <a:defRPr sz="2400">
                <a:solidFill>
                  <a:srgbClr val="CBD5E1"/>
                </a:solidFill>
              </a:defRPr>
            </a:pPr>
            <a:r>
              <a:t>• Colaboración como base</a:t>
            </a:r>
          </a:p>
          <a:p>
            <a:pPr>
              <a:spcBef>
                <a:spcPts val="2000"/>
              </a:spcBef>
              <a:defRPr sz="2400">
                <a:solidFill>
                  <a:srgbClr val="CBD5E1"/>
                </a:solidFill>
              </a:defRPr>
            </a:pPr>
            <a:r>
              <a:t>• Revisión periódica de escenarios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METODOLOGÍA EN EMACON</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3.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Alineación de objetivos y procesos</a:t>
            </a:r>
          </a:p>
          <a:p>
            <a:pPr>
              <a:spcBef>
                <a:spcPts val="2000"/>
              </a:spcBef>
              <a:defRPr sz="2400">
                <a:solidFill>
                  <a:srgbClr val="CBD5E1"/>
                </a:solidFill>
              </a:defRPr>
            </a:pPr>
            <a:r>
              <a:t>• Fases claras y definidas</a:t>
            </a:r>
          </a:p>
          <a:p>
            <a:pPr>
              <a:spcBef>
                <a:spcPts val="2000"/>
              </a:spcBef>
              <a:defRPr sz="2400">
                <a:solidFill>
                  <a:srgbClr val="CBD5E1"/>
                </a:solidFill>
              </a:defRPr>
            </a:pPr>
            <a:r>
              <a:t>• Importancia de la estructura</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EJEMPLO DE EJERCICIO PROSPECTIVO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Caso práctico para ilustrar</a:t>
            </a:r>
          </a:p>
          <a:p>
            <a:pPr>
              <a:spcBef>
                <a:spcPts val="2000"/>
              </a:spcBef>
              <a:defRPr sz="2400">
                <a:solidFill>
                  <a:srgbClr val="CBD5E1"/>
                </a:solidFill>
              </a:defRPr>
            </a:pPr>
            <a:r>
              <a:t>• Pasos seguidos en el análisis</a:t>
            </a:r>
          </a:p>
          <a:p>
            <a:pPr>
              <a:spcBef>
                <a:spcPts val="2000"/>
              </a:spcBef>
              <a:defRPr sz="2400">
                <a:solidFill>
                  <a:srgbClr val="CBD5E1"/>
                </a:solidFill>
              </a:defRPr>
            </a:pPr>
            <a:r>
              <a:t>• Resultados obtenidos y lecciones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QUÉ HACEMOS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De la situación actual al futuro deseado</a:t>
            </a:r>
          </a:p>
          <a:p>
            <a:pPr>
              <a:spcBef>
                <a:spcPts val="2000"/>
              </a:spcBef>
              <a:defRPr sz="2400">
                <a:solidFill>
                  <a:srgbClr val="CBD5E1"/>
                </a:solidFill>
              </a:defRPr>
            </a:pPr>
            <a:r>
              <a:t>• Identificación de variables clave</a:t>
            </a:r>
          </a:p>
          <a:p>
            <a:pPr>
              <a:spcBef>
                <a:spcPts val="2000"/>
              </a:spcBef>
              <a:defRPr sz="2400">
                <a:solidFill>
                  <a:srgbClr val="CBD5E1"/>
                </a:solidFill>
              </a:defRPr>
            </a:pPr>
            <a:r>
              <a:t>• Enfoque en la adaptabilidad</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PROSPECTIVA ESTRATÉGICA: DEFINICIÓN</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Enfoque sistemático y colaborativo</a:t>
            </a:r>
          </a:p>
          <a:p>
            <a:pPr>
              <a:spcBef>
                <a:spcPts val="2000"/>
              </a:spcBef>
              <a:defRPr sz="2400">
                <a:solidFill>
                  <a:srgbClr val="CBD5E1"/>
                </a:solidFill>
              </a:defRPr>
            </a:pPr>
            <a:r>
              <a:t>• Identificación y análisis de futuros alternativos</a:t>
            </a:r>
          </a:p>
          <a:p>
            <a:pPr>
              <a:spcBef>
                <a:spcPts val="2000"/>
              </a:spcBef>
              <a:defRPr sz="2400">
                <a:solidFill>
                  <a:srgbClr val="CBD5E1"/>
                </a:solidFill>
              </a:defRPr>
            </a:pPr>
            <a:r>
              <a:t>• Evaluación continua para adaptación</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SITUACIÓN FINAL VS ACTUAL</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3.jpg"/>
          <p:cNvPicPr>
            <a:picLocks noChangeAspect="1"/>
          </p:cNvPicPr>
          <p:nvPr/>
        </p:nvPicPr>
        <p:blipFill>
          <a:blip r:embed="rId2"/>
          <a:stretch>
            <a:fillRect/>
          </a:stretch>
        </p:blipFill>
        <p:spPr>
          <a:xfrm>
            <a:off x="6858000" y="1645920"/>
            <a:ext cx="4572000" cy="183717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Definir la situación actual</a:t>
            </a:r>
          </a:p>
          <a:p>
            <a:pPr>
              <a:spcBef>
                <a:spcPts val="2000"/>
              </a:spcBef>
              <a:defRPr sz="2400">
                <a:solidFill>
                  <a:srgbClr val="CBD5E1"/>
                </a:solidFill>
              </a:defRPr>
            </a:pPr>
            <a:r>
              <a:t>• Plantear la situación final esperada</a:t>
            </a:r>
          </a:p>
          <a:p>
            <a:pPr>
              <a:spcBef>
                <a:spcPts val="2000"/>
              </a:spcBef>
              <a:defRPr sz="2400">
                <a:solidFill>
                  <a:srgbClr val="CBD5E1"/>
                </a:solidFill>
              </a:defRPr>
            </a:pPr>
            <a:r>
              <a:t>• Identificar la brecha a cerrar</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¿PARA QUÉ SIRVE LA PROSPECTIVA ESTRATÉGICA?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4.jpg"/>
          <p:cNvPicPr>
            <a:picLocks noChangeAspect="1"/>
          </p:cNvPicPr>
          <p:nvPr/>
        </p:nvPicPr>
        <p:blipFill>
          <a:blip r:embed="rId2"/>
          <a:stretch>
            <a:fillRect/>
          </a:stretch>
        </p:blipFill>
        <p:spPr>
          <a:xfrm>
            <a:off x="731520" y="1645920"/>
            <a:ext cx="4572000" cy="9144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Informar procesos de planeamiento</a:t>
            </a:r>
          </a:p>
          <a:p>
            <a:pPr>
              <a:spcBef>
                <a:spcPts val="2000"/>
              </a:spcBef>
              <a:defRPr sz="2400">
                <a:solidFill>
                  <a:srgbClr val="CBD5E1"/>
                </a:solidFill>
              </a:defRPr>
            </a:pPr>
            <a:r>
              <a:t>• Apoyar toma de decisiones estratégicas</a:t>
            </a:r>
          </a:p>
          <a:p>
            <a:pPr>
              <a:spcBef>
                <a:spcPts val="2000"/>
              </a:spcBef>
              <a:defRPr sz="2400">
                <a:solidFill>
                  <a:srgbClr val="CBD5E1"/>
                </a:solidFill>
              </a:defRPr>
            </a:pPr>
            <a:r>
              <a:t>• Iniciar ciclos de desarrollo de la fuerza</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2_0.jpg"/>
          <p:cNvPicPr>
            <a:picLocks noChangeAspect="1"/>
          </p:cNvPicPr>
          <p:nvPr/>
        </p:nvPicPr>
        <p:blipFill>
          <a:blip r:embed="rId2"/>
          <a:stretch>
            <a:fillRect/>
          </a:stretch>
        </p:blipFill>
        <p:spPr>
          <a:xfrm>
            <a:off x="6858000" y="1645920"/>
            <a:ext cx="4572000" cy="1288096"/>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Incertidumbres clave: game changers</a:t>
            </a:r>
          </a:p>
          <a:p>
            <a:pPr>
              <a:spcBef>
                <a:spcPts val="2000"/>
              </a:spcBef>
              <a:defRPr sz="2400">
                <a:solidFill>
                  <a:srgbClr val="CBD5E1"/>
                </a:solidFill>
              </a:defRPr>
            </a:pPr>
            <a:r>
              <a:t>• Tendencias estables: megatrends</a:t>
            </a:r>
          </a:p>
          <a:p>
            <a:pPr>
              <a:spcBef>
                <a:spcPts val="2000"/>
              </a:spcBef>
              <a:defRPr sz="2400">
                <a:solidFill>
                  <a:srgbClr val="CBD5E1"/>
                </a:solidFill>
              </a:defRPr>
            </a:pPr>
            <a:r>
              <a:t>• Señales de atención: weak signals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ATENCIÓN A LO INESPERADO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2_1.jpg"/>
          <p:cNvPicPr>
            <a:picLocks noChangeAspect="1"/>
          </p:cNvPicPr>
          <p:nvPr/>
        </p:nvPicPr>
        <p:blipFill>
          <a:blip r:embed="rId2"/>
          <a:stretch>
            <a:fillRect/>
          </a:stretch>
        </p:blipFill>
        <p:spPr>
          <a:xfrm>
            <a:off x="731520" y="1645920"/>
            <a:ext cx="4572000" cy="1285135"/>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No descartar lo obvio</a:t>
            </a:r>
          </a:p>
          <a:p>
            <a:pPr>
              <a:spcBef>
                <a:spcPts val="2000"/>
              </a:spcBef>
              <a:defRPr sz="2400">
                <a:solidFill>
                  <a:srgbClr val="CBD5E1"/>
                </a:solidFill>
              </a:defRPr>
            </a:pPr>
            <a:r>
              <a:t>• Estar alerta ante cambios</a:t>
            </a:r>
          </a:p>
          <a:p>
            <a:pPr>
              <a:spcBef>
                <a:spcPts val="2000"/>
              </a:spcBef>
              <a:defRPr sz="2400">
                <a:solidFill>
                  <a:srgbClr val="CBD5E1"/>
                </a:solidFill>
              </a:defRPr>
            </a:pPr>
            <a:r>
              <a:t>• Adaptación constante</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ANÁLISIS ESTRATÉGICO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Mapas de dominios y actores</a:t>
            </a:r>
          </a:p>
          <a:p>
            <a:pPr>
              <a:spcBef>
                <a:spcPts val="2000"/>
              </a:spcBef>
              <a:defRPr sz="2400">
                <a:solidFill>
                  <a:srgbClr val="CBD5E1"/>
                </a:solidFill>
              </a:defRPr>
            </a:pPr>
            <a:r>
              <a:t>• Análisis de estratos causales</a:t>
            </a:r>
          </a:p>
          <a:p>
            <a:pPr>
              <a:spcBef>
                <a:spcPts val="2000"/>
              </a:spcBef>
              <a:defRPr sz="2400">
                <a:solidFill>
                  <a:srgbClr val="CBD5E1"/>
                </a:solidFill>
              </a:defRPr>
            </a:pPr>
            <a:r>
              <a:t>• Herramientas visuales efectivas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TÉCNICAS PARA IDENTIFICAR 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Backcasting: visión retrospectiva</a:t>
            </a:r>
          </a:p>
          <a:p>
            <a:pPr>
              <a:spcBef>
                <a:spcPts val="2000"/>
              </a:spcBef>
              <a:defRPr sz="2400">
                <a:solidFill>
                  <a:srgbClr val="CBD5E1"/>
                </a:solidFill>
              </a:defRPr>
            </a:pPr>
            <a:r>
              <a:t>• Triángulo de futuros</a:t>
            </a:r>
          </a:p>
          <a:p>
            <a:pPr>
              <a:spcBef>
                <a:spcPts val="2000"/>
              </a:spcBef>
              <a:defRPr sz="2400">
                <a:solidFill>
                  <a:srgbClr val="CBD5E1"/>
                </a:solidFill>
              </a:defRPr>
            </a:pPr>
            <a:r>
              <a:t>• Rueda de futuros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MATRIZ DE ANÁLISIS DAFO (SWOT)</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Identificación de Debilidades y Fortalezas</a:t>
            </a:r>
          </a:p>
          <a:p>
            <a:pPr>
              <a:spcBef>
                <a:spcPts val="2000"/>
              </a:spcBef>
              <a:defRPr sz="2400">
                <a:solidFill>
                  <a:srgbClr val="CBD5E1"/>
                </a:solidFill>
              </a:defRPr>
            </a:pPr>
            <a:r>
              <a:t>• Oportunidades y Amenazas</a:t>
            </a:r>
          </a:p>
          <a:p>
            <a:pPr>
              <a:spcBef>
                <a:spcPts val="2000"/>
              </a:spcBef>
              <a:defRPr sz="2400">
                <a:solidFill>
                  <a:srgbClr val="CBD5E1"/>
                </a:solidFill>
              </a:defRPr>
            </a:pPr>
            <a:r>
              <a:t>• Visión integral del entorno</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RECURRENCIA A OTROS ESTUDIOS PROSPECTIVOS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3_3.jpg"/>
          <p:cNvPicPr>
            <a:picLocks noChangeAspect="1"/>
          </p:cNvPicPr>
          <p:nvPr/>
        </p:nvPicPr>
        <p:blipFill>
          <a:blip r:embed="rId2"/>
          <a:stretch>
            <a:fillRect/>
          </a:stretch>
        </p:blipFill>
        <p:spPr>
          <a:xfrm>
            <a:off x="731520" y="1645920"/>
            <a:ext cx="4572000" cy="128842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Aprendizaje de experiencias previas</a:t>
            </a:r>
          </a:p>
          <a:p>
            <a:pPr>
              <a:spcBef>
                <a:spcPts val="2000"/>
              </a:spcBef>
              <a:defRPr sz="2400">
                <a:solidFill>
                  <a:srgbClr val="CBD5E1"/>
                </a:solidFill>
              </a:defRPr>
            </a:pPr>
            <a:r>
              <a:t>• Validación de hipótesis</a:t>
            </a:r>
          </a:p>
          <a:p>
            <a:pPr>
              <a:spcBef>
                <a:spcPts val="2000"/>
              </a:spcBef>
              <a:defRPr sz="2400">
                <a:solidFill>
                  <a:srgbClr val="CBD5E1"/>
                </a:solidFill>
              </a:defRPr>
            </a:pPr>
            <a:r>
              <a:t>• Encuentro de mejores prácticas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GESTIÓN DE 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3_4.jpg"/>
          <p:cNvPicPr>
            <a:picLocks noChangeAspect="1"/>
          </p:cNvPicPr>
          <p:nvPr/>
        </p:nvPicPr>
        <p:blipFill>
          <a:blip r:embed="rId2"/>
          <a:stretch>
            <a:fillRect/>
          </a:stretch>
        </p:blipFill>
        <p:spPr>
          <a:xfrm>
            <a:off x="6858000" y="1645920"/>
            <a:ext cx="4572000" cy="128842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Control de variables clave</a:t>
            </a:r>
          </a:p>
          <a:p>
            <a:pPr>
              <a:spcBef>
                <a:spcPts val="2000"/>
              </a:spcBef>
              <a:defRPr sz="2400">
                <a:solidFill>
                  <a:srgbClr val="CBD5E1"/>
                </a:solidFill>
              </a:defRPr>
            </a:pPr>
            <a:r>
              <a:t>• Flexibilidad para adaptarse</a:t>
            </a:r>
          </a:p>
          <a:p>
            <a:pPr>
              <a:spcBef>
                <a:spcPts val="2000"/>
              </a:spcBef>
              <a:defRPr sz="2400">
                <a:solidFill>
                  <a:srgbClr val="CBD5E1"/>
                </a:solidFill>
              </a:defRPr>
            </a:pPr>
            <a:r>
              <a:t>• Anticipación de cambios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CONSTRUCCIÓN DE ESCENARIOS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Visualización de alternativas</a:t>
            </a:r>
          </a:p>
          <a:p>
            <a:pPr>
              <a:spcBef>
                <a:spcPts val="2000"/>
              </a:spcBef>
              <a:defRPr sz="2400">
                <a:solidFill>
                  <a:srgbClr val="CBD5E1"/>
                </a:solidFill>
              </a:defRPr>
            </a:pPr>
            <a:r>
              <a:t>• Número manejable de escenarios</a:t>
            </a:r>
          </a:p>
          <a:p>
            <a:pPr>
              <a:spcBef>
                <a:spcPts val="2000"/>
              </a:spcBef>
              <a:defRPr sz="2400">
                <a:solidFill>
                  <a:srgbClr val="CBD5E1"/>
                </a:solidFill>
              </a:defRPr>
            </a:pPr>
            <a:r>
              <a:t>• Métodos inductivos y deductivos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INDUCTIVO: 'FUTURES CONE'</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Visualización de futuro</a:t>
            </a:r>
          </a:p>
          <a:p>
            <a:pPr>
              <a:spcBef>
                <a:spcPts val="2000"/>
              </a:spcBef>
              <a:defRPr sz="2400">
                <a:solidFill>
                  <a:srgbClr val="CBD5E1"/>
                </a:solidFill>
              </a:defRPr>
            </a:pPr>
            <a:r>
              <a:t>• Desviaciones del futuro oficial</a:t>
            </a:r>
          </a:p>
          <a:p>
            <a:pPr>
              <a:spcBef>
                <a:spcPts val="2000"/>
              </a:spcBef>
              <a:defRPr sz="2400">
                <a:solidFill>
                  <a:srgbClr val="CBD5E1"/>
                </a:solidFill>
              </a:defRPr>
            </a:pPr>
            <a:r>
              <a:t>• Método de J. Voros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DEDUCTIVO: MATRIZ DE ESCENARIOS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Identificación de incertidumbres críticas</a:t>
            </a:r>
          </a:p>
          <a:p>
            <a:pPr>
              <a:spcBef>
                <a:spcPts val="2000"/>
              </a:spcBef>
              <a:defRPr sz="2400">
                <a:solidFill>
                  <a:srgbClr val="CBD5E1"/>
                </a:solidFill>
              </a:defRPr>
            </a:pPr>
            <a:r>
              <a:t>• Escenarios bajo diferentes variables</a:t>
            </a:r>
          </a:p>
          <a:p>
            <a:pPr>
              <a:spcBef>
                <a:spcPts val="2000"/>
              </a:spcBef>
              <a:defRPr sz="2400">
                <a:solidFill>
                  <a:srgbClr val="CBD5E1"/>
                </a:solidFill>
              </a:defRPr>
            </a:pPr>
            <a:r>
              <a:t>• Visualización de resultados potenciales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CONSTRUCTIVO: COMBINACIÓN DE FUERZAS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4_3.jpg"/>
          <p:cNvPicPr>
            <a:picLocks noChangeAspect="1"/>
          </p:cNvPicPr>
          <p:nvPr/>
        </p:nvPicPr>
        <p:blipFill>
          <a:blip r:embed="rId2"/>
          <a:stretch>
            <a:fillRect/>
          </a:stretch>
        </p:blipFill>
        <p:spPr>
          <a:xfrm>
            <a:off x="6858000" y="1645920"/>
            <a:ext cx="2907406"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Integración de diferentes drivers</a:t>
            </a:r>
          </a:p>
          <a:p>
            <a:pPr>
              <a:spcBef>
                <a:spcPts val="2000"/>
              </a:spcBef>
              <a:defRPr sz="2400">
                <a:solidFill>
                  <a:srgbClr val="CBD5E1"/>
                </a:solidFill>
              </a:defRPr>
            </a:pPr>
            <a:r>
              <a:t>• Formación de escenarios diversificados</a:t>
            </a:r>
          </a:p>
          <a:p>
            <a:pPr>
              <a:spcBef>
                <a:spcPts val="2000"/>
              </a:spcBef>
              <a:defRPr sz="2400">
                <a:solidFill>
                  <a:srgbClr val="CBD5E1"/>
                </a:solidFill>
              </a:defRPr>
            </a:pPr>
            <a:r>
              <a:t>• Proyección de eventos futuros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METODOLOGÍA SILVER LINING</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Método ágil y flexible</a:t>
            </a:r>
          </a:p>
          <a:p>
            <a:pPr>
              <a:spcBef>
                <a:spcPts val="2000"/>
              </a:spcBef>
              <a:defRPr sz="2400">
                <a:solidFill>
                  <a:srgbClr val="CBD5E1"/>
                </a:solidFill>
              </a:defRPr>
            </a:pPr>
            <a:r>
              <a:t>• Enfoque en la resolución</a:t>
            </a:r>
          </a:p>
          <a:p>
            <a:pPr>
              <a:spcBef>
                <a:spcPts val="2000"/>
              </a:spcBef>
              <a:defRPr sz="2400">
                <a:solidFill>
                  <a:srgbClr val="CBD5E1"/>
                </a:solidFill>
              </a:defRPr>
            </a:pPr>
            <a:r>
              <a:t>• Adaptable a diferentes contextos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PROSPECTIVA ESTRATÉGICA: MÉTODO SILVER LINING</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6858000" y="1645920"/>
            <a:ext cx="4572000" cy="642857"/>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Estructura de pasos claros</a:t>
            </a:r>
          </a:p>
          <a:p>
            <a:pPr>
              <a:spcBef>
                <a:spcPts val="2000"/>
              </a:spcBef>
              <a:defRPr sz="2400">
                <a:solidFill>
                  <a:srgbClr val="CBD5E1"/>
                </a:solidFill>
              </a:defRPr>
            </a:pPr>
            <a:r>
              <a:t>• Identificación y definición</a:t>
            </a:r>
          </a:p>
          <a:p>
            <a:pPr>
              <a:spcBef>
                <a:spcPts val="2000"/>
              </a:spcBef>
              <a:defRPr sz="2400">
                <a:solidFill>
                  <a:srgbClr val="CBD5E1"/>
                </a:solidFill>
              </a:defRPr>
            </a:pPr>
            <a:r>
              <a:t>• Acumulación de errores y aciertos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COLOQUIO Y PREGUNTAS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731520" y="1645920"/>
            <a:ext cx="4572000" cy="642857"/>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Espacio abierto para debate</a:t>
            </a:r>
          </a:p>
          <a:p>
            <a:pPr>
              <a:spcBef>
                <a:spcPts val="2000"/>
              </a:spcBef>
              <a:defRPr sz="2400">
                <a:solidFill>
                  <a:srgbClr val="CBD5E1"/>
                </a:solidFill>
              </a:defRPr>
            </a:pPr>
            <a:r>
              <a:t>• Interacción con participantes</a:t>
            </a:r>
          </a:p>
          <a:p>
            <a:pPr>
              <a:spcBef>
                <a:spcPts val="2000"/>
              </a:spcBef>
              <a:defRPr sz="2400">
                <a:solidFill>
                  <a:srgbClr val="CBD5E1"/>
                </a:solidFill>
              </a:defRPr>
            </a:pPr>
            <a:r>
              <a:t>• Refuerzo de conceptos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144000" y="6217920"/>
            <a:ext cx="2743200" cy="457200"/>
          </a:xfrm>
          <a:prstGeom prst="rect">
            <a:avLst/>
          </a:prstGeom>
          <a:noFill/>
        </p:spPr>
        <p:txBody>
          <a:bodyPr wrap="none">
            <a:spAutoFit/>
          </a:bodyPr>
          <a:lstStyle/>
          <a:p>
            <a:pPr algn="r">
              <a:defRPr sz="1400" b="1">
                <a:solidFill>
                  <a:srgbClr val="38BDF8"/>
                </a:solidFill>
              </a:defRPr>
            </a:pPr>
            <a:r>
              <a:t>EMACON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